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4663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"/>
            <a:ext cx="0" cy="4206240"/>
          </a:xfrm>
          <a:prstGeom prst="line">
            <a:avLst/>
          </a:prstGeom>
          <a:noFill/>
          <a:ln w="3810">
            <a:solidFill>
              <a:srgbClr val="00A89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05472" y="274320"/>
            <a:ext cx="0" cy="4206240"/>
          </a:xfrm>
          <a:prstGeom prst="line">
            <a:avLst/>
          </a:prstGeom>
          <a:noFill/>
          <a:ln w="3810">
            <a:solidFill>
              <a:srgbClr val="00A896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52944" y="274320"/>
            <a:ext cx="0" cy="4206240"/>
          </a:xfrm>
          <a:prstGeom prst="line">
            <a:avLst/>
          </a:prstGeom>
          <a:noFill/>
          <a:ln w="3810">
            <a:solidFill>
              <a:srgbClr val="00A896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00416" y="274320"/>
            <a:ext cx="0" cy="4206240"/>
          </a:xfrm>
          <a:prstGeom prst="line">
            <a:avLst/>
          </a:prstGeom>
          <a:noFill/>
          <a:ln w="3810">
            <a:solidFill>
              <a:srgbClr val="00A896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47888" y="274320"/>
            <a:ext cx="0" cy="4206240"/>
          </a:xfrm>
          <a:prstGeom prst="line">
            <a:avLst/>
          </a:prstGeom>
          <a:noFill/>
          <a:ln w="3810">
            <a:solidFill>
              <a:srgbClr val="00A896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274320"/>
            <a:ext cx="0" cy="4206240"/>
          </a:xfrm>
          <a:prstGeom prst="line">
            <a:avLst/>
          </a:prstGeom>
          <a:noFill/>
          <a:ln w="3810">
            <a:solidFill>
              <a:srgbClr val="00A896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274320"/>
            <a:ext cx="1371600" cy="365760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74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PROJECT REVIEW 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502920"/>
            <a:ext cx="14630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640080"/>
            <a:ext cx="3657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0972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Vision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347472" y="190195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0C9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347472" y="27889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Injection Monitoring via Advanced YOLO Architectures and MONAI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47472" y="3337560"/>
            <a:ext cx="1572768" cy="329184"/>
          </a:xfrm>
          <a:prstGeom prst="rect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33756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YOLOv11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66544" y="3337560"/>
            <a:ext cx="1572768" cy="329184"/>
          </a:xfrm>
          <a:prstGeom prst="rect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66544" y="333756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MONAI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85616" y="3337560"/>
            <a:ext cx="1572768" cy="329184"/>
          </a:xfrm>
          <a:prstGeom prst="rect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85616" y="333756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FastAPI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04688" y="3337560"/>
            <a:ext cx="1572768" cy="329184"/>
          </a:xfrm>
          <a:prstGeom prst="rect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04688" y="333756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23760" y="3337560"/>
            <a:ext cx="1572768" cy="329184"/>
          </a:xfrm>
          <a:prstGeom prst="rect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333756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Roboflow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Second Project Review  ·  Clinical AI  ·  Computer Vision  ·  Real-Time Monitoring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7315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A3550"/>
                </a:solidFill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8595360" cy="82296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24128"/>
            <a:ext cx="64008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698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injection errors are a global patient safety crisis — yet no automated real-time system exists to monitor injection procedures at the point of care, leaving safety entirely dependent on human vigilance.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11680"/>
            <a:ext cx="27432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11480" y="2697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Injection Errors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09067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16 billion injections globally per year. Up to 40% involve unsafe practices — causing nerve damage, haematomas, and vascular injuries.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201168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011680"/>
            <a:ext cx="2743200" cy="9144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💊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337560" y="2697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C0D"/>
                </a:solidFill>
              </a:rPr>
              <a:t>Drug Efficacy Failure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309067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Incorrect needle angle causes medication to miss the target tissue. Vaccines injected at wrong depth fail completely — a documented clinical problem.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201168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011680"/>
            <a:ext cx="2743200" cy="91440"/>
          </a:xfrm>
          <a:prstGeom prst="rect">
            <a:avLst/>
          </a:prstGeom>
          <a:solidFill>
            <a:srgbClr val="006D7E"/>
          </a:solidFill>
          <a:ln w="12700">
            <a:solidFill>
              <a:srgbClr val="006D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😴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263640" y="2697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E"/>
                </a:solidFill>
              </a:rPr>
              <a:t>Clinician Fatigue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309067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Busy hospitals leave clinicians overworked and fatigued. Manual oversight of every injection procedure is simply not feasible.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automated real-time injection monitoring system currently exists at the point of clinical care.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7315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A3550"/>
                </a:solidFill>
              </a:rPr>
              <a:t>02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APPROACH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1024128"/>
            <a:ext cx="15727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24128"/>
            <a:ext cx="1572768" cy="82296"/>
          </a:xfrm>
          <a:prstGeom prst="rect">
            <a:avLst/>
          </a:prstGeom>
          <a:solidFill>
            <a:srgbClr val="006D7E"/>
          </a:solidFill>
          <a:ln w="12700">
            <a:solidFill>
              <a:srgbClr val="006D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15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8600" y="170078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E"/>
                </a:solidFill>
              </a:rPr>
              <a:t>Input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02996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</a:rPr>
              <a:t>Webcam / Image / Video upload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01368" y="1920240"/>
            <a:ext cx="18288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56232" y="1792224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84248" y="1024128"/>
            <a:ext cx="15727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84248" y="1024128"/>
            <a:ext cx="1572768" cy="8229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84248" y="1115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984248" y="170078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MONAI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75688" y="202996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</a:rPr>
              <a:t>ScaleIntensity + NormalizeIntensity preprocessing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57016" y="1920240"/>
            <a:ext cx="18288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1792224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39896" y="1024128"/>
            <a:ext cx="15727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39896" y="1024128"/>
            <a:ext cx="1572768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9896" y="1115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739896" y="170078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YOLOv11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31336" y="202996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</a:rPr>
              <a:t>Real-time needle angle detection (18 classes)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12664" y="1920240"/>
            <a:ext cx="18288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67528" y="1792224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95544" y="1024128"/>
            <a:ext cx="15727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95544" y="1024128"/>
            <a:ext cx="1572768" cy="82296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95544" y="1115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495544" y="170078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C0D"/>
                </a:solidFill>
              </a:rPr>
              <a:t>Classify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86984" y="202996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</a:rPr>
              <a:t>Angle classified with confidence score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68312" y="1920240"/>
            <a:ext cx="18288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23176" y="1792224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96"/>
                </a:solidFill>
              </a:rPr>
              <a:t>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51192" y="1024128"/>
            <a:ext cx="15727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51192" y="1024128"/>
            <a:ext cx="1572768" cy="822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51192" y="111556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251192" y="170078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Alert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42632" y="2029968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2833"/>
                </a:solidFill>
              </a:rPr>
              <a:t>3-tier clinical alert fired to dashboard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" y="3127248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28600" y="3127248"/>
            <a:ext cx="64008" cy="1691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31821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</a:rPr>
              <a:t>Dataset &amp; Training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93192" y="35295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• 16,368 needle angle images — Roboflow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93192" y="3776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• Train 82% / Valid 12% / Test 6%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93192" y="4023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• Transfer learning from COCO pretrained weights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93192" y="42702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• Brightness ±20% + Saturation ±30% augmentation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93192" y="45171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• Trained locally on NVIDIA RTX 5070 GPU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90872" y="3127248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90872" y="3127248"/>
            <a:ext cx="64008" cy="1691640"/>
          </a:xfrm>
          <a:prstGeom prst="rect">
            <a:avLst/>
          </a:prstGeom>
          <a:solidFill>
            <a:srgbClr val="006D7E"/>
          </a:solidFill>
          <a:ln w="12700">
            <a:solidFill>
              <a:srgbClr val="006D7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55464" y="31821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7E"/>
                </a:solidFill>
              </a:rPr>
              <a:t>Clinical Safety Design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855464" y="35295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• Human-in-the-Loop — clinician makes all decisions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55464" y="3776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• Alert fires only above 40% confidence threshold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55464" y="4023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• Critical: Above 30° — too steep (injury risk)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55464" y="42702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• Warning: Below 15° — too shallow (drug misses tissue)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55464" y="45171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• Audit log records every detection with timestamp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7315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A3550"/>
                </a:solidFill>
              </a:rPr>
              <a:t>03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COMPLETED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1024128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24128"/>
            <a:ext cx="2788920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24128"/>
            <a:ext cx="475488" cy="178308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66420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E"/>
                </a:solidFill>
              </a:rPr>
              <a:t>M1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097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11338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</a:rPr>
              <a:t>Login &amp; Registration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463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449"/>
                </a:solidFill>
              </a:rPr>
              <a:t>✅ DONE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1709928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Healthcare-themed teal glassmorphism UI. Username, password, clinical role selector. Secure routing between pages.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54680" y="1024128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024128"/>
            <a:ext cx="2788920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1024128"/>
            <a:ext cx="475488" cy="178308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66420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E"/>
                </a:solidFill>
              </a:rPr>
              <a:t>M2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03320" y="1097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03320" y="11338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</a:rPr>
              <a:t>Clinical Dashboard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03320" y="1463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449"/>
                </a:solidFill>
              </a:rPr>
              <a:t>✅ DONE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03320" y="1709928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Dark navy sidebar + light content area. 5 navigation sections. Live clock, system status, session statistics.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80760" y="1024128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0" y="1024128"/>
            <a:ext cx="2788920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1024128"/>
            <a:ext cx="475488" cy="178308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166420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E"/>
                </a:solidFill>
              </a:rPr>
              <a:t>M3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9400" y="1097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29400" y="11338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</a:rPr>
              <a:t>Image &amp; Video Upload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29400" y="1463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449"/>
                </a:solidFill>
              </a:rPr>
              <a:t>✅ DONE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29400" y="1709928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Drag &amp; drop interface. Supports JPG, PNG, MP4, MOV. Sends to FastAPI backend. Returns annotated image + confidence scores.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" y="3035808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3035808"/>
            <a:ext cx="2788920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" y="3035808"/>
            <a:ext cx="475488" cy="178308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67588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E"/>
                </a:solidFill>
              </a:rPr>
              <a:t>M4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724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📷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77240" y="31455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</a:rPr>
              <a:t>Live Camera Monitoring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" y="3474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449"/>
                </a:solidFill>
              </a:rPr>
              <a:t>✅ DONE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" y="3721608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WebRTC webcam feed. Frame captured every 800ms and sent to YOLOv11. Live bounding box overlay + alert system.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154680" y="3035808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154680" y="3035808"/>
            <a:ext cx="2788920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54680" y="3035808"/>
            <a:ext cx="475488" cy="178308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54680" y="367588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E"/>
                </a:solidFill>
              </a:rPr>
              <a:t>M5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70332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703320" y="31455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</a:rPr>
              <a:t>Audit Log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703320" y="3474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449"/>
                </a:solidFill>
              </a:rPr>
              <a:t>✅ DONE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703320" y="3721608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Full detection history table with timestamps. Filter by alert level. CSV export. Persists via localStorage.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80760" y="3035808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80760" y="3035808"/>
            <a:ext cx="2788920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80760" y="3035808"/>
            <a:ext cx="475488" cy="178308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80760" y="3675888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D7E"/>
                </a:solidFill>
              </a:rPr>
              <a:t>M6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62940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629400" y="31455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</a:rPr>
              <a:t>FastAPI Backend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629400" y="3474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449"/>
                </a:solidFill>
              </a:rPr>
              <a:t>✅ DONE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629400" y="3721608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REST API endpoints: /detect /log /health /categories. MONAI preprocessing pipeline. YOLO inference. JSON responses.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7315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A3550"/>
                </a:solidFill>
              </a:rPr>
              <a:t>04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Module 1: Login &amp; Registration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023360" cy="3291840"/>
          </a:xfrm>
          <a:prstGeom prst="rect">
            <a:avLst/>
          </a:prstGeom>
          <a:solidFill>
            <a:srgbClr val="006D7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4023360" cy="292608"/>
          </a:xfrm>
          <a:prstGeom prst="rect">
            <a:avLst/>
          </a:prstGeom>
          <a:solidFill>
            <a:srgbClr val="005060"/>
          </a:solidFill>
          <a:ln w="12700">
            <a:solidFill>
              <a:srgbClr val="005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0DEEA"/>
                </a:solidFill>
              </a:rPr>
              <a:t>● LOGIN PAGE — Healthcare Teal Theme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3383280" cy="329184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173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Welcome Back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DEEA"/>
                </a:solidFill>
              </a:rPr>
              <a:t>Clinical Vision Intelligence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103120"/>
            <a:ext cx="3383280" cy="320040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121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F0F0"/>
                </a:solidFill>
              </a:rPr>
              <a:t>Username or Staff ID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2514600"/>
            <a:ext cx="3383280" cy="320040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532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F0F0"/>
                </a:solidFill>
              </a:rPr>
              <a:t>Password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3383280" cy="320040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944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F0F0"/>
                </a:solidFill>
              </a:rPr>
              <a:t>Clinical Role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401568"/>
            <a:ext cx="3383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015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E"/>
                </a:solidFill>
              </a:rPr>
              <a:t>Sign 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886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DEEA"/>
                </a:solidFill>
              </a:rPr>
              <a:t>Don't have an account? Register here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4206240" cy="3291840"/>
          </a:xfrm>
          <a:prstGeom prst="rect">
            <a:avLst/>
          </a:prstGeom>
          <a:solidFill>
            <a:srgbClr val="006D7E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05840"/>
            <a:ext cx="4206240" cy="292608"/>
          </a:xfrm>
          <a:prstGeom prst="rect">
            <a:avLst/>
          </a:prstGeom>
          <a:solidFill>
            <a:srgbClr val="005060"/>
          </a:solidFill>
          <a:ln w="12700">
            <a:solidFill>
              <a:srgbClr val="005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241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0DEEA"/>
                </a:solidFill>
              </a:rPr>
              <a:t>● REGISTER PAGE — New Clinical Account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1389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Create Account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17556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DEEA"/>
                </a:solidFill>
              </a:rPr>
              <a:t>Complete your clinical access profile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057400"/>
            <a:ext cx="1828800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0756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F0F0"/>
                </a:solidFill>
              </a:rPr>
              <a:t>Full Name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766560" y="2057400"/>
            <a:ext cx="2029968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2075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F0F0"/>
                </a:solidFill>
              </a:rPr>
              <a:t>Staff ID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2441448"/>
            <a:ext cx="4041648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459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F0F0"/>
                </a:solidFill>
              </a:rPr>
              <a:t>Email Address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2825496"/>
            <a:ext cx="1828800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8437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F0F0"/>
                </a:solidFill>
              </a:rPr>
              <a:t>Department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766560" y="2825496"/>
            <a:ext cx="2029968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2843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F0F0"/>
                </a:solidFill>
              </a:rPr>
              <a:t>Role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3209544"/>
            <a:ext cx="1828800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227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F0F0"/>
                </a:solidFill>
              </a:rPr>
              <a:t>Password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766560" y="3209544"/>
            <a:ext cx="2029968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3227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F0F0"/>
                </a:solidFill>
              </a:rPr>
              <a:t>Confirm Password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3657600"/>
            <a:ext cx="40416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657600"/>
            <a:ext cx="4041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E"/>
                </a:solidFill>
              </a:rPr>
              <a:t>Create Clinical Account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" y="4370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Login Page — Healthcare glassmorphism with ECG animation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3440" y="43708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Register Page — Full clinical profile with validation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7315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A3550"/>
                </a:solidFill>
              </a:rPr>
              <a:t>05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Module 2: Clinical Dashboard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4630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1463040" cy="548640"/>
          </a:xfrm>
          <a:prstGeom prst="rect">
            <a:avLst/>
          </a:prstGeom>
          <a:solidFill>
            <a:srgbClr val="F4F9F9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78992"/>
            <a:ext cx="320040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78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CVI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49808" y="11155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7F8C8D"/>
                </a:solidFill>
              </a:rPr>
              <a:t>MONITORING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320040" y="1664208"/>
            <a:ext cx="137160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007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103120"/>
            <a:ext cx="1371600" cy="365760"/>
          </a:xfrm>
          <a:prstGeom prst="rect">
            <a:avLst/>
          </a:prstGeom>
          <a:solidFill>
            <a:srgbClr val="F9FAFA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396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Upload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542032"/>
            <a:ext cx="1371600" cy="365760"/>
          </a:xfrm>
          <a:prstGeom prst="rect">
            <a:avLst/>
          </a:prstGeom>
          <a:solidFill>
            <a:srgbClr val="F9FAFA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5786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Live Cam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980944"/>
            <a:ext cx="1371600" cy="365760"/>
          </a:xfrm>
          <a:prstGeom prst="rect">
            <a:avLst/>
          </a:prstGeom>
          <a:solidFill>
            <a:srgbClr val="F9FAFA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175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Audit Log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419856"/>
            <a:ext cx="1371600" cy="365760"/>
          </a:xfrm>
          <a:prstGeom prst="rect">
            <a:avLst/>
          </a:prstGeom>
          <a:solidFill>
            <a:srgbClr val="F9FAFA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4564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Settings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20240" y="1005840"/>
            <a:ext cx="6949440" cy="3749040"/>
          </a:xfrm>
          <a:prstGeom prst="rect">
            <a:avLst/>
          </a:prstGeom>
          <a:solidFill>
            <a:srgbClr val="F4F9F9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0240" y="1005840"/>
            <a:ext cx="6949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132320" y="1097280"/>
            <a:ext cx="137160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1097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</a:rPr>
              <a:t>● System Online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011680" y="1572768"/>
            <a:ext cx="15727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011680" y="1572768"/>
            <a:ext cx="54864" cy="8412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21408" y="16276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2121408" y="1993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Detections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703320" y="1572768"/>
            <a:ext cx="15727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703320" y="1572768"/>
            <a:ext cx="54864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13048" y="16276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</a:rPr>
              <a:t>0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813048" y="1993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Alerts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394960" y="1572768"/>
            <a:ext cx="15727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394960" y="1572768"/>
            <a:ext cx="54864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04688" y="16276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YOLOv11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504688" y="1993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Model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086600" y="1572768"/>
            <a:ext cx="15727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086600" y="1572768"/>
            <a:ext cx="54864" cy="84124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96328" y="16276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C0D"/>
                </a:solidFill>
              </a:rPr>
              <a:t>18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196328" y="1993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Categories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011680" y="2514600"/>
            <a:ext cx="4297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148840" y="2606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Detection Activity Chart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103120" y="2651760"/>
            <a:ext cx="4114800" cy="0"/>
          </a:xfrm>
          <a:prstGeom prst="line">
            <a:avLst/>
          </a:prstGeom>
          <a:noFill/>
          <a:ln w="6350">
            <a:solidFill>
              <a:srgbClr val="EDF2F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03120" y="2788920"/>
            <a:ext cx="4114800" cy="0"/>
          </a:xfrm>
          <a:prstGeom prst="line">
            <a:avLst/>
          </a:prstGeom>
          <a:noFill/>
          <a:ln w="6350">
            <a:solidFill>
              <a:srgbClr val="EDF2F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03120" y="2926080"/>
            <a:ext cx="4114800" cy="0"/>
          </a:xfrm>
          <a:prstGeom prst="line">
            <a:avLst/>
          </a:prstGeom>
          <a:noFill/>
          <a:ln w="6350">
            <a:solidFill>
              <a:srgbClr val="EDF2F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03120" y="3063240"/>
            <a:ext cx="4114800" cy="0"/>
          </a:xfrm>
          <a:prstGeom prst="line">
            <a:avLst/>
          </a:prstGeom>
          <a:noFill/>
          <a:ln w="6350">
            <a:solidFill>
              <a:srgbClr val="EDF2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103120" y="3200400"/>
            <a:ext cx="4114800" cy="0"/>
          </a:xfrm>
          <a:prstGeom prst="line">
            <a:avLst/>
          </a:prstGeom>
          <a:noFill/>
          <a:ln w="6350">
            <a:solidFill>
              <a:srgbClr val="EDF2F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103120" y="3337560"/>
            <a:ext cx="4114800" cy="0"/>
          </a:xfrm>
          <a:prstGeom prst="line">
            <a:avLst/>
          </a:prstGeom>
          <a:noFill/>
          <a:ln w="6350">
            <a:solidFill>
              <a:srgbClr val="EDF2F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194560" y="3657600"/>
            <a:ext cx="0" cy="-64008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68880" y="3657600"/>
            <a:ext cx="0" cy="-91440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0" y="3657600"/>
            <a:ext cx="0" cy="-45720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17520" y="3657600"/>
            <a:ext cx="0" cy="-73152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91840" y="3657600"/>
            <a:ext cx="0" cy="-36576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92240" y="2514600"/>
            <a:ext cx="2286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583680" y="26060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Detection Categories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537960" y="2880360"/>
            <a:ext cx="73152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06640" y="286207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8C8D"/>
                </a:solidFill>
              </a:rPr>
              <a:t>15°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537960" y="3008376"/>
            <a:ext cx="109728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06640" y="29900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8C8D"/>
                </a:solidFill>
              </a:rPr>
              <a:t>20°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537960" y="3136392"/>
            <a:ext cx="9144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06640" y="3118104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8C8D"/>
                </a:solidFill>
              </a:rPr>
              <a:t>25°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537960" y="3264408"/>
            <a:ext cx="54864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06640" y="3246120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8C8D"/>
                </a:solidFill>
              </a:rPr>
              <a:t>30°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537960" y="3392424"/>
            <a:ext cx="36576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06640" y="337413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8C8D"/>
                </a:solidFill>
              </a:rPr>
              <a:t>&lt;15°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537960" y="3520440"/>
            <a:ext cx="27432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06640" y="350215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8C8D"/>
                </a:solidFill>
              </a:rPr>
              <a:t>&gt;30°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274320" y="47731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Dashboard — Dark sidebar + light content area with real-time charts and stat cards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7315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A3550"/>
                </a:solidFill>
              </a:rPr>
              <a:t>06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Module 3: Detection Working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438912"/>
          </a:xfrm>
          <a:prstGeom prst="rect">
            <a:avLst/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4241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7F17"/>
                </a:solidFill>
              </a:rPr>
              <a:t>⚠️  WARNING   WARNING: Needle angle below 15° — too shallow, medication may not reach target tissue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664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Select Image or Video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011680"/>
            <a:ext cx="3749040" cy="960120"/>
          </a:xfrm>
          <a:prstGeom prst="rect">
            <a:avLst/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0848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🖼️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25146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istockphoto-injection.jpg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7249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EC0"/>
                </a:solidFill>
              </a:rPr>
              <a:t>JPG, PNG, MP4, MOV supported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" y="3035808"/>
            <a:ext cx="3749040" cy="1143000"/>
          </a:xfrm>
          <a:prstGeom prst="rect">
            <a:avLst/>
          </a:prstGeom>
          <a:solidFill>
            <a:srgbClr val="E8F4F8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015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[ Injection Site Image Preview 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4315968"/>
            <a:ext cx="374904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315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Run Detection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572768"/>
            <a:ext cx="4297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1664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Detection Result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1709928"/>
            <a:ext cx="731520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17099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8449"/>
                </a:solidFill>
              </a:rPr>
              <a:t>1 object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63440" y="2011680"/>
            <a:ext cx="411480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0" y="2103120"/>
            <a:ext cx="1280160" cy="566928"/>
          </a:xfrm>
          <a:prstGeom prst="rect">
            <a:avLst/>
          </a:prstGeom>
          <a:solidFill>
            <a:srgbClr val="00000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93208" y="21031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Below 15° 0.56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709160" y="31272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[ Annotated Detection Image ]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0" y="3584448"/>
            <a:ext cx="4297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9160" y="3675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Confidence Scores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4041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</a:rPr>
              <a:t>Below 15 degrees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21040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C0D"/>
                </a:solidFill>
              </a:rPr>
              <a:t>56%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4343400"/>
            <a:ext cx="3977640" cy="10972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4343400"/>
            <a:ext cx="2231136" cy="10972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828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A3550"/>
                </a:solidFill>
              </a:rPr>
              <a:t>07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CE3"/>
                </a:solidFill>
              </a:rPr>
              <a:t>Working Prototype — Live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635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51560"/>
            <a:ext cx="1600200" cy="1417320"/>
          </a:xfrm>
          <a:prstGeom prst="rect">
            <a:avLst/>
          </a:prstGeom>
          <a:solidFill>
            <a:srgbClr val="0D2137"/>
          </a:solidFill>
          <a:ln w="6350">
            <a:solidFill>
              <a:srgbClr val="006D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155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93192" y="1664208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CCE3"/>
                </a:solidFill>
              </a:rPr>
              <a:t>Camera / Upload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20240" y="14173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75688" y="1051560"/>
            <a:ext cx="1600200" cy="1417320"/>
          </a:xfrm>
          <a:prstGeom prst="rect">
            <a:avLst/>
          </a:prstGeom>
          <a:solidFill>
            <a:srgbClr val="0D2137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75688" y="11155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48840" y="1664208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CCE3"/>
                </a:solidFill>
              </a:rPr>
              <a:t>MONAI Processing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75888" y="14173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31336" y="1051560"/>
            <a:ext cx="1600200" cy="1417320"/>
          </a:xfrm>
          <a:prstGeom prst="rect">
            <a:avLst/>
          </a:prstGeom>
          <a:solidFill>
            <a:srgbClr val="0D2137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31336" y="11155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904488" y="1664208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CCE3"/>
                </a:solidFill>
              </a:rPr>
              <a:t>YOLOv11 Inference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31536" y="14173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86984" y="1051560"/>
            <a:ext cx="1600200" cy="1417320"/>
          </a:xfrm>
          <a:prstGeom prst="rect">
            <a:avLst/>
          </a:prstGeom>
          <a:solidFill>
            <a:srgbClr val="0D2137"/>
          </a:solidFill>
          <a:ln w="6350">
            <a:solidFill>
              <a:srgbClr val="D4AC0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86984" y="11155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660136" y="1664208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CCE3"/>
                </a:solidFill>
              </a:rPr>
              <a:t>Angle Classification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87184" y="14173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42632" y="1051560"/>
            <a:ext cx="1600200" cy="1417320"/>
          </a:xfrm>
          <a:prstGeom prst="rect">
            <a:avLst/>
          </a:prstGeom>
          <a:solidFill>
            <a:srgbClr val="0D2137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42632" y="11155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15784" y="1664208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CCE3"/>
                </a:solidFill>
              </a:rPr>
              <a:t>Clinical Alert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26334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896"/>
                </a:solidFill>
              </a:rPr>
              <a:t>LIVE DEMO FLOW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944368"/>
            <a:ext cx="8412480" cy="329184"/>
          </a:xfrm>
          <a:prstGeom prst="rect">
            <a:avLst/>
          </a:prstGeom>
          <a:solidFill>
            <a:srgbClr val="0D2137"/>
          </a:solidFill>
          <a:ln w="3810">
            <a:solidFill>
              <a:srgbClr val="00A8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944368"/>
            <a:ext cx="54864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9900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Step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71600" y="29900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CCE3"/>
                </a:solidFill>
              </a:rPr>
              <a:t>Open browser at localhost:3000 → Login page appears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595360" y="29900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328416"/>
            <a:ext cx="8412480" cy="329184"/>
          </a:xfrm>
          <a:prstGeom prst="rect">
            <a:avLst/>
          </a:prstGeom>
          <a:solidFill>
            <a:srgbClr val="0D2137"/>
          </a:solidFill>
          <a:ln w="3810">
            <a:solidFill>
              <a:srgbClr val="00A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328416"/>
            <a:ext cx="54864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3741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Step 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371600" y="337413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CCE3"/>
                </a:solidFill>
              </a:rPr>
              <a:t>Enter credentials → Navigate to Clinical Dashboard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595360" y="337413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3712464"/>
            <a:ext cx="8412480" cy="329184"/>
          </a:xfrm>
          <a:prstGeom prst="rect">
            <a:avLst/>
          </a:prstGeom>
          <a:solidFill>
            <a:srgbClr val="0D2137"/>
          </a:solidFill>
          <a:ln w="3810">
            <a:solidFill>
              <a:srgbClr val="00A89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712464"/>
            <a:ext cx="54864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7581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Step 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371600" y="3758184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CCE3"/>
                </a:solidFill>
              </a:rPr>
              <a:t>Go to Upload → Select injection site image → Run Detection → See bounding box + angle class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595360" y="375818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8412480" cy="329184"/>
          </a:xfrm>
          <a:prstGeom prst="rect">
            <a:avLst/>
          </a:prstGeom>
          <a:solidFill>
            <a:srgbClr val="0D2137"/>
          </a:solidFill>
          <a:ln w="3810">
            <a:solidFill>
              <a:srgbClr val="00A89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096512"/>
            <a:ext cx="54864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1422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Step 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371600" y="414223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CCE3"/>
                </a:solidFill>
              </a:rPr>
              <a:t>Go to Live Cam → Start monitoring → Point at needle → See live angle classification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595360" y="41422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" y="4480560"/>
            <a:ext cx="8412480" cy="329184"/>
          </a:xfrm>
          <a:prstGeom prst="rect">
            <a:avLst/>
          </a:prstGeom>
          <a:solidFill>
            <a:srgbClr val="0D2137"/>
          </a:solidFill>
          <a:ln w="3810">
            <a:solidFill>
              <a:srgbClr val="00A89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4480560"/>
            <a:ext cx="54864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5262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Step 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371600" y="452628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CCE3"/>
                </a:solidFill>
              </a:rPr>
              <a:t>Go to Audit Log → View all detections → Export CSV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595360" y="452628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</a:rPr>
              <a:t>✓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Backend: uvicorn main:app --port 8000  ·  Frontend: npm start → localhost:3000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73152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A3550"/>
                </a:solidFill>
              </a:rPr>
              <a:t>08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&amp; PROBLEM-SOLVING APPROACH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7889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278892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155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11338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Needle Angle as Clinical Signal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572768"/>
            <a:ext cx="25786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</a:rPr>
              <a:t>Rather than classifying injection site conditions visually, we measure the precise insertion angle — the true determinant of whether medication reaches the correct tissue layer.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1005840"/>
            <a:ext cx="27889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005840"/>
            <a:ext cx="27889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1155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49040" y="11338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YOLO + MONAI Dual Pipeline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64408" y="1572768"/>
            <a:ext cx="25786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</a:rPr>
              <a:t>YOLOv11 provides speed (real-time detection). MONAI provides medical precision (clinical-grade preprocessing). No existing system combines both for injection monitoring.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005840"/>
            <a:ext cx="27889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005840"/>
            <a:ext cx="2788920" cy="640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1155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75120" y="11338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</a:rPr>
              <a:t>Human-in-the-Loop Safety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0488" y="1572768"/>
            <a:ext cx="25786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</a:rPr>
              <a:t>Unlike black-box AI, our system shows clinicians exactly what it detected and why — bounding boxes, angle class, confidence score — before any alert fires. Clinician always decides.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2999232"/>
            <a:ext cx="27889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999232"/>
            <a:ext cx="2788920" cy="6400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1089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2960" y="31272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C0D"/>
                </a:solidFill>
              </a:rPr>
              <a:t>DFD-Driven Architecture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" y="3566160"/>
            <a:ext cx="25786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</a:rPr>
              <a:t>System designed with clear data flow: Input → MONAI → YOLOv11 → Classification → Alert → Dashboard → Audit Log. Each module is independently testable.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54680" y="2999232"/>
            <a:ext cx="27889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54680" y="2999232"/>
            <a:ext cx="27889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31089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749040" y="31272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Full-Stack Clinical System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64408" y="3566160"/>
            <a:ext cx="25786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</a:rPr>
              <a:t>Complete end-to-end product: React frontend, FastAPI backend, trained model, login/register system, audit trail — not just a model but a deployable clinical tool.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0760" y="2999232"/>
            <a:ext cx="27889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2999232"/>
            <a:ext cx="2788920" cy="64008"/>
          </a:xfrm>
          <a:prstGeom prst="rect">
            <a:avLst/>
          </a:prstGeom>
          <a:solidFill>
            <a:srgbClr val="006D7E"/>
          </a:solidFill>
          <a:ln w="12700">
            <a:solidFill>
              <a:srgbClr val="006D7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1089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675120" y="31272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E"/>
                </a:solidFill>
              </a:rPr>
              <a:t>18-Class Angle Precision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90488" y="3566160"/>
            <a:ext cx="25786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</a:rPr>
              <a:t>Instead of binary pass/fail, the system classifies 18 discrete angles (15°–30°, Below 15°, Above 30°), giving clinicians detailed spatial feedback about needle placement.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914400"/>
            <a:ext cx="1280160" cy="182880"/>
          </a:xfrm>
          <a:prstGeom prst="rect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0A896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15968" y="530352"/>
            <a:ext cx="512064" cy="950976"/>
          </a:xfrm>
          <a:prstGeom prst="rect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0A896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459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65760" y="26334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CCE3"/>
                </a:solidFill>
              </a:rPr>
              <a:t>Clinical Vision Intelligence — Project Review 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3127248"/>
            <a:ext cx="3657600" cy="0"/>
          </a:xfrm>
          <a:prstGeom prst="line">
            <a:avLst/>
          </a:prstGeom>
          <a:noFill/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3101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B5"/>
                </a:solidFill>
              </a:rPr>
              <a:t>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3950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CE3"/>
                </a:solidFill>
              </a:rPr>
              <a:t>Modules Built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80360" y="33101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B5"/>
                </a:solidFill>
              </a:rPr>
              <a:t>18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880360" y="3950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CE3"/>
                </a:solidFill>
              </a:rPr>
              <a:t>Angle Classes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33101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B5"/>
                </a:solidFill>
              </a:rPr>
              <a:t>16K+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846320" y="3950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CE3"/>
                </a:solidFill>
              </a:rPr>
              <a:t>Training Images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2280" y="33101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B5"/>
                </a:solidFill>
              </a:rPr>
              <a:t>RTX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12280" y="3950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CCE3"/>
                </a:solidFill>
              </a:rPr>
              <a:t>5070 GPU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YOLOv11  ·  MONAI  ·  FastAPI  ·  React  ·  Roboflow  ·  RTX 5070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Vision Intelligence — Project Review 2</dc:title>
  <dc:subject>PptxGenJS Presentation</dc:subject>
  <dc:creator>PptxGenJS</dc:creator>
  <cp:lastModifiedBy>PptxGenJS</cp:lastModifiedBy>
  <cp:revision>1</cp:revision>
  <dcterms:created xsi:type="dcterms:W3CDTF">2026-04-12T12:53:13Z</dcterms:created>
  <dcterms:modified xsi:type="dcterms:W3CDTF">2026-04-12T12:53:13Z</dcterms:modified>
</cp:coreProperties>
</file>