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983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ACADEMIC PROJECT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Vision Intelligence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Injection Monitoring via Advanced YOLO Architectures and MONAI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880360"/>
            <a:ext cx="32004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108960"/>
            <a:ext cx="1554480" cy="347472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08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YOLOv11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3108960"/>
            <a:ext cx="1554480" cy="347472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3108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MONAI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03904" y="3108960"/>
            <a:ext cx="1554480" cy="347472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3108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22976" y="3108960"/>
            <a:ext cx="1554480" cy="347472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3108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42048" y="3108960"/>
            <a:ext cx="1554480" cy="347472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3108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Roboflow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CE3"/>
                </a:solidFill>
              </a:rPr>
              <a:t>Deep Learning  ·  Medical AI  ·  Computer Vision  ·  Real-Time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2560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</a:rPr>
              <a:t>Clinical Vision Intelligence is a real-time injection monitoring system that leverages YOLOv11 object detection and the MONAI medical imaging framework to automatically track needles, syringes and injection sites through a live camera feed or uploaded images.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</a:rPr>
              <a:t>The core problem being solved is the lack of automated oversight during medical injection procedures — a critical gap that leads to nerve damage, drug efficacy failure and infection due to human error and clinical fatigue.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</a:rPr>
              <a:t>The system classifies injection site conditions into 6 clinical categories and fires intelligent alerts when anomalies are detected, while always preserving the clinician's final decision-making authority. The expected outcome is a deployable full-stack clinical dashboard combining a FastAPI backend and a React frontend, validated on a 16,368-image needle angle dataset from Roboflow.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794760"/>
            <a:ext cx="2606040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3840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16,368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Training Images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3794760"/>
            <a:ext cx="2606040" cy="10972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3840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4389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Detection Categories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794760"/>
            <a:ext cx="260604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3840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YOLOv11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35040" y="4389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Core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Injection Errors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16 billion injections administered globally every year. Up to 40% involve unsafe practices causing nerve damage, haematomas, or vascular injuries.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43000"/>
            <a:ext cx="2743200" cy="10972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C0D"/>
                </a:solidFill>
              </a:rPr>
              <a:t>Drug Efficacy Failure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Incorrect needle angle or depth causes medication to reach the wrong tissue. Vaccines fail when injected into fat instead of muscle.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43000"/>
            <a:ext cx="2743200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😴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6364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276"/>
                </a:solidFill>
              </a:rPr>
              <a:t>Human Fatigue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46888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</a:rPr>
              <a:t>Clinicians in busy hospitals are often fatigued. Manual monitoring cannot provide consistent real-time oversight of every injection procedure.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 automated real-time system currently exists to monitor injection safety at the point of care.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94360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86C1"/>
                </a:solidFill>
              </a:rPr>
              <a:t>Analyse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09728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</a:rPr>
              <a:t>injection site complications and needle angle deviation patterns relevant to clinical monitoring.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1965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19656"/>
            <a:ext cx="594360" cy="65836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1965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18653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8F77"/>
                </a:solidFill>
              </a:rPr>
              <a:t>Develop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1865376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</a:rPr>
              <a:t>a YOLOv11-based real-time object detection pipeline to track needles, syringes and injection sites.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87752"/>
            <a:ext cx="59436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8775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6334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5276"/>
                </a:solidFill>
              </a:rPr>
              <a:t>Implement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2633472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</a:rPr>
              <a:t>MONAI medical-grade preprocessing to ensure consistent image quality under clinical lighting conditions.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5584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55848"/>
            <a:ext cx="594360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5584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E44AD"/>
                </a:solidFill>
              </a:rPr>
              <a:t>Classify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20240" y="3401568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</a:rPr>
              <a:t>injection site conditions into 6 clinical categories — from Normal to Adverse Reaction — with confidence scores.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12394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123944"/>
            <a:ext cx="59436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2394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41696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8449"/>
                </a:solidFill>
              </a:rPr>
              <a:t>Evaluate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20240" y="4169664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</a:rPr>
              <a:t>system performance using mAP, precision and recall metrics and validate ethical deployment principles.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73152" cy="11430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1143000"/>
            <a:ext cx="685800" cy="292608"/>
          </a:xfrm>
          <a:prstGeom prst="rect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1430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C1"/>
                </a:solidFill>
              </a:rPr>
              <a:t>2016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1247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</a:rPr>
              <a:t>YOLO — You Only Look Once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3990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</a:rPr>
              <a:t>Redmon et 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What they did: Introduced single-pass real-time object detection — entire image processed in one forward pass, enabling 155fps detection.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</a:rPr>
              <a:t>Gap identified: Limited to 2 bounding boxes per grid cell — struggles with small thin objects like needles.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50008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50008"/>
            <a:ext cx="73152" cy="11430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441448"/>
            <a:ext cx="685800" cy="292608"/>
          </a:xfrm>
          <a:prstGeom prst="rect">
            <a:avLst/>
          </a:prstGeom>
          <a:solidFill>
            <a:srgbClr val="148F77">
              <a:alpha val="20000"/>
            </a:srgbClr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4414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8F77"/>
                </a:solidFill>
              </a:rPr>
              <a:t>2018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</a:rPr>
              <a:t>Focal Loss for Dense Object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</a:rPr>
              <a:t>Lin et al. — Facebook AI Research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898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What they did: Solved extreme foreground-background class imbalance by down-weighting easy examples during training using modulated cross-entropy.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172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</a:rPr>
              <a:t>Gap identified: Evaluated on general object detection — not applied to medical tool detection or needle-specific datasets.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648456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48456"/>
            <a:ext cx="73152" cy="11430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3739896"/>
            <a:ext cx="685800" cy="292608"/>
          </a:xfrm>
          <a:prstGeom prst="rect">
            <a:avLst/>
          </a:prstGeom>
          <a:solidFill>
            <a:srgbClr val="8E44AD">
              <a:alpha val="2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37398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44AD"/>
                </a:solidFill>
              </a:rPr>
              <a:t>2023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7216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</a:rPr>
              <a:t>Ethics of Computer Vision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9959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</a:rPr>
              <a:t>Waelen — University of Twente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97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What they did: Identified four power dimensions of CV systems — dispositional, episodic, systemic, constitutive — threatening autonomy and privacy.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714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</a:rPr>
              <a:t>Gap identified: Theoretical only — no practical design guidelines for building ethically responsible clinical AI systems.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1508760" cy="91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2128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Camera feed or uploaded image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1965960"/>
            <a:ext cx="2286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01952" y="18288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C1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109728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097280"/>
            <a:ext cx="1508760" cy="9144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1168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8F77"/>
                </a:solidFill>
              </a:rPr>
              <a:t>MONAI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22128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ScaleIntensity + NormalizeIntensity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1965960"/>
            <a:ext cx="2286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18288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C1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109728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097280"/>
            <a:ext cx="1508760" cy="914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4904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6C1"/>
                </a:solidFill>
              </a:rPr>
              <a:t>YOLOv11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22192" y="22128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Object detection + angle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57800" y="1965960"/>
            <a:ext cx="2286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18288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C1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109728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097280"/>
            <a:ext cx="1508760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4864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44AD"/>
                </a:solidFill>
              </a:rPr>
              <a:t>Classify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59552" y="22128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6 injection site categories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95160" y="1965960"/>
            <a:ext cx="2286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14032" y="182880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6C1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23760" y="1097280"/>
            <a:ext cx="1508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1097280"/>
            <a:ext cx="15087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1188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22376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Alert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96912" y="22128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833"/>
                </a:solidFill>
              </a:rPr>
              <a:t>Confidence scores + clinical alert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2918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291840"/>
            <a:ext cx="73152" cy="15544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</a:rPr>
              <a:t>Dataset &amp; Training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3703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16,368 needle angle images (Roboflow)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Train: 82% / Valid: 12% / Test: 6%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Transfer learning from COCO weights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Brightness &amp; saturation augmentation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32918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291840"/>
            <a:ext cx="73152" cy="1554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</a:rPr>
              <a:t>Clinical Safety Design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937760" y="3703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Human-in-the-loop — clinician decides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75% confidence threshold for alerts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Bounding boxes show AI reasoning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• Session audit log for accountability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743200" cy="914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216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</a:rPr>
              <a:t>YOLOv11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472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AI Detection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73736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Real-time needle &amp; syringe tracking with bounding boxes and angle measurement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51560"/>
            <a:ext cx="2743200" cy="9144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1216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8F77"/>
                </a:solidFill>
              </a:rPr>
              <a:t>MONAI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1472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Medical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173736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Clinical-grade image preprocessing — ScaleIntensity for consistent needle visibility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51560"/>
            <a:ext cx="2743200" cy="91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188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20840" y="1216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</a:rPr>
              <a:t>FastAPI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1472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Backend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36208" y="173736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High-speed Python API receiving images, running AI, returning JSON results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2743200" cy="914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</a:rPr>
              <a:t>React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392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Frontend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36576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Professional clinical dashboard with live camera, alerts and audit logging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971800"/>
            <a:ext cx="2743200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794760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</a:rPr>
              <a:t>Roboflow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94760" y="3392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Dataset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10128" y="36576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16,368 labelled needle angle images with augmentation pipeline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971800"/>
            <a:ext cx="2743200" cy="91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20840" y="3136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</a:rPr>
              <a:t>Google Colab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20840" y="3392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Training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36208" y="36576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Free GPU cloud training environment — no local GPU required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INPUT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73152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</a:rPr>
              <a:t>Source: Roboflow Universe — Needle Angle Detection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</a:rPr>
              <a:t>universe.roboflow.com/dataset-nta0w/needle-angle-detection-gw4m1  ·  Version 2  ·  May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1920240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16,368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Total Images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2148840"/>
            <a:ext cx="1920240" cy="9144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50592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50592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Angle Classes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2148840"/>
            <a:ext cx="192024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26864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Training Split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2148840"/>
            <a:ext cx="192024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03136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640×640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03136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46120"/>
            <a:ext cx="73152" cy="1600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101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</a:rPr>
              <a:t>Angle Classes (18 total)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15° · 16° · 17° · 18° · 19° · 20° · 21° · 22° · 23° · 24° · 25° · 26° · 27° · 28° · 29° · 30° · Above 30° · Below 15°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246120"/>
            <a:ext cx="73152" cy="16002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3101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</a:rPr>
              <a:t>Preprocessing &amp; Augmentation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Auto-Orient applied to all images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Resize: Stretch to 640×640 pixels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Brightness: ±20% variation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Saturation: ±30% variation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• 2 augmented outputs per training image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08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595360" cy="36576"/>
          </a:xfrm>
          <a:prstGeom prst="rect">
            <a:avLst/>
          </a:prstGeom>
          <a:solidFill>
            <a:srgbClr val="2E86C1">
              <a:alpha val="50000"/>
            </a:srgbClr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303520" cy="841248"/>
          </a:xfrm>
          <a:prstGeom prst="rect">
            <a:avLst/>
          </a:prstGeom>
          <a:solidFill>
            <a:srgbClr val="0D213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73152" cy="8412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</a:rPr>
              <a:t>Trained YOLOv11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2527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best.pt achieving high mAP on needle angle detection across 18 angle classes (15°–30°+)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5303520" cy="841248"/>
          </a:xfrm>
          <a:prstGeom prst="rect">
            <a:avLst/>
          </a:prstGeom>
          <a:solidFill>
            <a:srgbClr val="0D213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20240"/>
            <a:ext cx="73152" cy="84124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65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8F77"/>
                </a:solidFill>
              </a:rPr>
              <a:t>Clinical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2585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React + FastAPI web application with live camera monitoring, image upload, and real-time bounding boxes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5303520" cy="841248"/>
          </a:xfrm>
          <a:prstGeom prst="rect">
            <a:avLst/>
          </a:prstGeom>
          <a:solidFill>
            <a:srgbClr val="0D213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7315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71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Intelligent Alert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2644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Three-tier alerts — Critical, Warning, Normal — fired when confidence exceeds 75% threshold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5303520" cy="841248"/>
          </a:xfrm>
          <a:prstGeom prst="rect">
            <a:avLst/>
          </a:prstGeom>
          <a:solidFill>
            <a:srgbClr val="0D213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31920"/>
            <a:ext cx="73152" cy="8412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77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Session Audit Log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2702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</a:rPr>
              <a:t>Downloadable CSV log of every detection with timestamp, category, confidence and alert level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914400"/>
            <a:ext cx="2880360" cy="3931920"/>
          </a:xfrm>
          <a:prstGeom prst="rect">
            <a:avLst/>
          </a:prstGeom>
          <a:solidFill>
            <a:srgbClr val="0D213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9875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</a:rPr>
              <a:t>6 Detection Categories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1444752"/>
            <a:ext cx="109728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13716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Normal Injection Site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011680"/>
            <a:ext cx="109728" cy="25603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9385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Swelling / Inflammation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2578608"/>
            <a:ext cx="10972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25054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Infection / Abscess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3145536"/>
            <a:ext cx="109728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30723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Bruising / Haematoma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3712464"/>
            <a:ext cx="10972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36393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Incorrect Placement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4279392"/>
            <a:ext cx="109728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4206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Adverse Reaction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 clinically responsible AI system — the doctor always decides. The AI assists.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 &amp; TIMELINE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1371600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Feb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124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</a:rPr>
              <a:t>Research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14356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Literature review · Problem definition · Dataset identification · Research paper analysis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39112"/>
            <a:ext cx="1371600" cy="8229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84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Mar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112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</a:rPr>
              <a:t>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3080" y="2423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System architecture · Dataset preparation · Roboflow annotation · Model selection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26664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26664"/>
            <a:ext cx="137160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723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438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Apr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099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</a:rPr>
              <a:t>Implementation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34107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YOLOv11 training on Colab · FastAPI backend · React frontend · MONAI integration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014216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14216"/>
            <a:ext cx="1371600" cy="822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599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425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May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4087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</a:rPr>
              <a:t>Testing &amp; Submission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83080" y="439826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</a:rPr>
              <a:t>Model evaluation · mAP metrics · System testing · Final documentation · Submission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97280" y="4800600"/>
            <a:ext cx="141732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800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Feb 2026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4800600"/>
            <a:ext cx="1417320" cy="2560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800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Mar 2026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94960" y="4800600"/>
            <a:ext cx="141732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4800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Apr 2026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43800" y="4800600"/>
            <a:ext cx="141732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4800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10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MENTOR DETAILS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595360" cy="36576"/>
          </a:xfrm>
          <a:prstGeom prst="rect">
            <a:avLst/>
          </a:prstGeom>
          <a:solidFill>
            <a:srgbClr val="2E86C1">
              <a:alpha val="50000"/>
            </a:srgbClr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C1"/>
                </a:solidFill>
              </a:rPr>
              <a:t>TEAM MEMBER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023360" cy="1645920"/>
          </a:xfrm>
          <a:prstGeom prst="rect">
            <a:avLst/>
          </a:prstGeom>
          <a:solidFill>
            <a:srgbClr val="0D213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Prince K Justin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CE3"/>
                </a:solidFill>
              </a:rPr>
              <a:t>Student — BCA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48F77"/>
                </a:solidFill>
              </a:rPr>
              <a:t>GUIDE / MENTOR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023360" cy="1645920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17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[</a:t>
            </a:r>
            <a:r>
              <a:rPr lang="en-IN" sz="1600" b="1" dirty="0">
                <a:solidFill>
                  <a:srgbClr val="FFFFFF"/>
                </a:solidFill>
              </a:rPr>
              <a:t>Ms. Roch Libia Rani</a:t>
            </a:r>
            <a:r>
              <a:rPr lang="en-US" sz="1600" b="1" dirty="0">
                <a:solidFill>
                  <a:srgbClr val="FFFFFF"/>
                </a:solidFill>
              </a:rPr>
              <a:t>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A9CCE3"/>
                </a:solidFill>
              </a:rPr>
              <a:t>Asst. Prof. — BCA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73152" cy="1463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186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</a:rPr>
              <a:t>Project Summary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4787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Clinical Vision Intelligence — Automated Injection Monitoring via Advanced YOLO Architectures and MONAI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Full-stack medical AI system: YOLOv11 + MONAI + FastAPI + React · Dataset: 16,368 images · Feb – May 2026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11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MODULE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</a:rPr>
              <a:t>Data Preparation &amp; Model Architecture Setup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77824"/>
            <a:ext cx="8412480" cy="36576"/>
          </a:xfrm>
          <a:prstGeom prst="rect">
            <a:avLst/>
          </a:prstGeom>
          <a:solidFill>
            <a:srgbClr val="148F77">
              <a:alpha val="60000"/>
            </a:srgbClr>
          </a:solidFill>
          <a:ln w="12700">
            <a:solidFill>
              <a:srgbClr val="148F77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48F77"/>
                </a:solidFill>
              </a:rPr>
              <a:t>✅  COMPLETED IN MODULE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02336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25880"/>
            <a:ext cx="64008" cy="7498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380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F77"/>
                </a:solidFill>
              </a:rPr>
              <a:t>Dataset Acquired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6550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16,368 images downloaded from Roboflow — Needle Angle Detection v2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221992"/>
            <a:ext cx="402336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21992"/>
            <a:ext cx="64008" cy="7498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677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276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F77"/>
                </a:solidFill>
              </a:rPr>
              <a:t>Training Pipeline Built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551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train.py configured with YOLOv11n, 50 epochs, COCO transfer learning, CUDA support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18104"/>
            <a:ext cx="402336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18104"/>
            <a:ext cx="64008" cy="7498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1638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172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F77"/>
                </a:solidFill>
              </a:rPr>
              <a:t>MONAI Pipeline Implemented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447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ScaleIntensity + NormalizeIntensity applied to every frame before inference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014216"/>
            <a:ext cx="402336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014216"/>
            <a:ext cx="64008" cy="7498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0599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F77"/>
                </a:solidFill>
              </a:rPr>
              <a:t>Project Structure Set 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3434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CCE3"/>
                </a:solidFill>
              </a:rPr>
              <a:t>backend/, frontend/, train.py, transforms.py, dataset.yaml all in place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86C1"/>
                </a:solidFill>
              </a:rPr>
              <a:t>🧠  TRAINING CONFIGURATION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325880"/>
            <a:ext cx="4114800" cy="1920240"/>
          </a:xfrm>
          <a:prstGeom prst="rect">
            <a:avLst/>
          </a:prstGeom>
          <a:solidFill>
            <a:srgbClr val="081420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389888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= YOLO('yolo11n.pt')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model.train(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data = 'dataset.yaml',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epochs = 50,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imgsz = 640,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device = 0,  # RTX 5070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batch = 16,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patience = 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C0D"/>
                </a:solidFill>
              </a:rPr>
              <a:t>📊  CURRENT STATUS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657600"/>
            <a:ext cx="4114800" cy="1188720"/>
          </a:xfrm>
          <a:prstGeom prst="rect">
            <a:avLst/>
          </a:prstGeom>
          <a:solidFill>
            <a:srgbClr val="0D2137"/>
          </a:solidFill>
          <a:ln w="6350">
            <a:solidFill>
              <a:srgbClr val="D4AC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30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Dataset: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37307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8F77"/>
                </a:solidFill>
              </a:rPr>
              <a:t>✅ Ready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Architecture: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37307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8F77"/>
                </a:solidFill>
              </a:rPr>
              <a:t>✅ Configured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4114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MONAI Pipeline: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41148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8F77"/>
                </a:solidFill>
              </a:rPr>
              <a:t>✅ Implemented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4114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Model Training: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41148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C0D"/>
                </a:solidFill>
              </a:rPr>
              <a:t>⏳ In Progress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4498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CE3"/>
                </a:solidFill>
              </a:rPr>
              <a:t>best.pt: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44988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C0D"/>
                </a:solidFill>
              </a:rPr>
              <a:t>⏳ Pending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Module 2 will demonstrate: Trained model inference · React dashboard live · FastAPI integration · Alert system in action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3550"/>
                </a:solidFill>
              </a:rPr>
              <a:t>11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MODULE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Login Page  ·  Clinical Vision Intelligence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148F77">
              <a:alpha val="60000"/>
            </a:srgbClr>
          </a:solidFill>
          <a:ln w="12700">
            <a:solidFill>
              <a:srgbClr val="148F77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8503920" cy="3657600"/>
          </a:xfrm>
          <a:prstGeom prst="rect">
            <a:avLst/>
          </a:prstGeom>
          <a:solidFill>
            <a:srgbClr val="030D12"/>
          </a:solidFill>
          <a:ln w="12700">
            <a:solidFill>
              <a:srgbClr val="1A3A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3840480" cy="3657600"/>
          </a:xfrm>
          <a:prstGeom prst="rect">
            <a:avLst/>
          </a:prstGeom>
          <a:solidFill>
            <a:srgbClr val="04111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0" cy="365760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005840"/>
            <a:ext cx="0" cy="365760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7592" y="1005840"/>
            <a:ext cx="0" cy="365760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01368" y="1005840"/>
            <a:ext cx="0" cy="365760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95144" y="1005840"/>
            <a:ext cx="0" cy="365760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1005840"/>
            <a:ext cx="0" cy="365760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2696" y="1005840"/>
            <a:ext cx="0" cy="365760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76472" y="1005840"/>
            <a:ext cx="0" cy="365760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005840"/>
            <a:ext cx="3840480" cy="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536192"/>
            <a:ext cx="3840480" cy="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066544"/>
            <a:ext cx="3840480" cy="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596896"/>
            <a:ext cx="3840480" cy="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27248"/>
            <a:ext cx="3840480" cy="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57600"/>
            <a:ext cx="3840480" cy="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187952"/>
            <a:ext cx="3840480" cy="0"/>
          </a:xfrm>
          <a:prstGeom prst="line">
            <a:avLst/>
          </a:prstGeom>
          <a:noFill/>
          <a:ln w="3810">
            <a:solidFill>
              <a:srgbClr val="0A20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1005840"/>
            <a:ext cx="3840480" cy="274320"/>
          </a:xfrm>
          <a:prstGeom prst="rect">
            <a:avLst/>
          </a:prstGeom>
          <a:solidFill>
            <a:srgbClr val="040F18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07899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10241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A5060"/>
                </a:solidFill>
              </a:rPr>
              <a:t>SECURE CLINICAL TERMINAL  v2.1.0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22960" y="1719072"/>
            <a:ext cx="329184" cy="0"/>
          </a:xfrm>
          <a:prstGeom prst="line">
            <a:avLst/>
          </a:prstGeom>
          <a:noFill/>
          <a:ln w="635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" y="1554480"/>
            <a:ext cx="0" cy="329184"/>
          </a:xfrm>
          <a:prstGeom prst="line">
            <a:avLst/>
          </a:prstGeom>
          <a:noFill/>
          <a:ln w="635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1609344"/>
            <a:ext cx="219456" cy="219456"/>
          </a:xfrm>
          <a:prstGeom prst="ellipse">
            <a:avLst/>
          </a:prstGeom>
          <a:solidFill>
            <a:srgbClr val="030D12"/>
          </a:solidFill>
          <a:ln w="63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965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0B4D8"/>
                </a:solidFill>
              </a:rPr>
              <a:t>AUTOMATED MONITORING SYSTEM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217627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E0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E0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57200" y="32186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6070"/>
                </a:solidFill>
              </a:rPr>
              <a:t>YOLOv11  ·  MONAI  ·  RTX 5070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493008"/>
            <a:ext cx="3474720" cy="0"/>
          </a:xfrm>
          <a:prstGeom prst="line">
            <a:avLst/>
          </a:prstGeom>
          <a:noFill/>
          <a:ln w="6350">
            <a:solidFill>
              <a:srgbClr val="0A2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478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1A4050"/>
                </a:solidFill>
              </a:rPr>
              <a:t>MODEL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" y="36941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YOLOv11n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27632" y="35478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1A4050"/>
                </a:solidFill>
              </a:rPr>
              <a:t>DATA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27632" y="36941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16,368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98064" y="35478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1A4050"/>
                </a:solidFill>
              </a:rPr>
              <a:t>STATUS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798064" y="36941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</a:rPr>
              <a:t>ONLINE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389120"/>
            <a:ext cx="3840480" cy="274320"/>
          </a:xfrm>
          <a:prstGeom prst="rect">
            <a:avLst/>
          </a:prstGeom>
          <a:solidFill>
            <a:srgbClr val="040F18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25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5060"/>
                </a:solidFill>
              </a:rPr>
              <a:t>12 Mar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91840" y="44256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14:23:07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46720" y="1143000"/>
            <a:ext cx="548640" cy="0"/>
          </a:xfrm>
          <a:prstGeom prst="line">
            <a:avLst/>
          </a:prstGeom>
          <a:noFill/>
          <a:ln w="6350">
            <a:solidFill>
              <a:srgbClr val="1A3A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95360" y="1143000"/>
            <a:ext cx="0" cy="365760"/>
          </a:xfrm>
          <a:prstGeom prst="line">
            <a:avLst/>
          </a:prstGeom>
          <a:noFill/>
          <a:ln w="6350">
            <a:solidFill>
              <a:srgbClr val="1A3A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34840" y="1627632"/>
            <a:ext cx="1828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00B4D8"/>
                </a:solidFill>
              </a:rPr>
              <a:t>AUTHENTICATE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34340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Portal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4343400" y="2359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5060"/>
                </a:solidFill>
              </a:rPr>
              <a:t>Authorised personnel only. All sessions are logged.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43400" y="272491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A5060"/>
                </a:solidFill>
              </a:rPr>
              <a:t>USER ID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370832" y="29260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username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343400" y="3200400"/>
            <a:ext cx="4114800" cy="0"/>
          </a:xfrm>
          <a:prstGeom prst="line">
            <a:avLst/>
          </a:prstGeom>
          <a:noFill/>
          <a:ln w="10160">
            <a:solidFill>
              <a:srgbClr val="1A3A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3400" y="32461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A5060"/>
                </a:solidFill>
              </a:rPr>
              <a:t>PASSPHRASE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370832" y="34472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............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343400" y="3721608"/>
            <a:ext cx="4114800" cy="0"/>
          </a:xfrm>
          <a:prstGeom prst="line">
            <a:avLst/>
          </a:prstGeom>
          <a:noFill/>
          <a:ln w="10160">
            <a:solidFill>
              <a:srgbClr val="1A3A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3400" y="37490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A5060"/>
                </a:solidFill>
              </a:rPr>
              <a:t>CLINICAL ROLE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343400" y="3931920"/>
            <a:ext cx="4114800" cy="292608"/>
          </a:xfrm>
          <a:prstGeom prst="rect">
            <a:avLst/>
          </a:prstGeom>
          <a:solidFill>
            <a:srgbClr val="060F14"/>
          </a:solidFill>
          <a:ln w="6350">
            <a:solidFill>
              <a:srgbClr val="1A3A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07408" y="3959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Physician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138160" y="3959352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5060"/>
                </a:solidFill>
              </a:rPr>
              <a:t>v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343400" y="434340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43400" y="4343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30D12"/>
                </a:solidFill>
              </a:rPr>
              <a:t>AUTHORISE ACCESS  -&gt;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343400" y="4773168"/>
            <a:ext cx="91440" cy="914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47365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4050"/>
                </a:solidFill>
              </a:rPr>
              <a:t>System operational  . MONAI pipeline active  . YOLOv11 loaded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Module 2: Dashboard  .  Module 3: Image Upload &amp; Detection  .  Module 4: Live Camera  .  Module 5: Alert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1411</Words>
  <Application>Microsoft Office PowerPoint</Application>
  <PresentationFormat>On-screen Show (16:9)</PresentationFormat>
  <Paragraphs>284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Prince K Justin</cp:lastModifiedBy>
  <cp:revision>4</cp:revision>
  <dcterms:created xsi:type="dcterms:W3CDTF">2026-03-23T07:10:38Z</dcterms:created>
  <dcterms:modified xsi:type="dcterms:W3CDTF">2026-03-24T20:00:58Z</dcterms:modified>
</cp:coreProperties>
</file>